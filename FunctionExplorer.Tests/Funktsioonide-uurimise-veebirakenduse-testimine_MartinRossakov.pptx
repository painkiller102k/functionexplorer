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Public Sans" panose="020B0604020202020204" charset="-70"/>
      <p:regular r:id="rId21"/>
    </p:embeddedFont>
    <p:embeddedFont>
      <p:font typeface="Public Sans Bold" panose="020B0604020202020204" charset="-70"/>
      <p:regular r:id="rId22"/>
    </p:embeddedFont>
    <p:embeddedFont>
      <p:font typeface="Public Sans SemiBold" panose="020B0604020202020204" charset="-70"/>
      <p:regular r:id="rId23"/>
    </p:embeddedFont>
    <p:embeddedFont>
      <p:font typeface="Saira Semi Condensed" panose="020B0604020202020204" charset="-7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045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3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A3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TALLINNA TEHNOLOOGIAKOLLEDŽ ·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3605113"/>
            <a:ext cx="10972526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Funktsioonide uurimise</a:t>
            </a:r>
            <a:endParaRPr lang="en-US" sz="7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veebirakenduse testimine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565862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Martin Rossakov · M-TARpv24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606272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Testitava töö autor: Artjom Põldsaar</a:t>
            </a:r>
            <a:endParaRPr lang="en-US" sz="1050" dirty="0"/>
          </a:p>
        </p:txBody>
      </p:sp>
      <p:pic>
        <p:nvPicPr>
          <p:cNvPr id="7" name="Pilt 6">
            <a:extLst>
              <a:ext uri="{FF2B5EF4-FFF2-40B4-BE49-F238E27FC236}">
                <a16:creationId xmlns:a16="http://schemas.microsoft.com/office/drawing/2014/main" id="{B8AE0AC8-ED26-407D-852A-A38010B50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679" y="6366014"/>
            <a:ext cx="3553321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19409"/>
            <a:ext cx="60399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01 — RAKENDUS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24784"/>
            <a:ext cx="5430404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FunctionExplorer aitab matemaatikat visuaalselt uurida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4071918"/>
            <a:ext cx="603998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Rakendus kuvab funktsioonide graafikuid ja analüüsitulemusi.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4519513"/>
            <a:ext cx="1791846" cy="19050"/>
          </a:xfrm>
          <a:prstGeom prst="roundRect">
            <a:avLst>
              <a:gd name="adj" fmla="val 49999"/>
            </a:avLst>
          </a:prstGeom>
          <a:solidFill>
            <a:srgbClr val="0A3F46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746208"/>
            <a:ext cx="543040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Kontrollida saab määramispiirkonda, nullkohti, tuletisi, kriitilisi punkte ja ekstreemumeid.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8" name="Shape 6"/>
          <p:cNvSpPr/>
          <p:nvPr/>
        </p:nvSpPr>
        <p:spPr>
          <a:xfrm>
            <a:off x="7716248" y="2416274"/>
            <a:ext cx="1856733" cy="1876822"/>
          </a:xfrm>
          <a:prstGeom prst="roundRect">
            <a:avLst>
              <a:gd name="adj" fmla="val 616"/>
            </a:avLst>
          </a:prstGeom>
          <a:solidFill>
            <a:srgbClr val="0A3F46"/>
          </a:solidFill>
          <a:ln/>
        </p:spPr>
      </p:sp>
      <p:sp>
        <p:nvSpPr>
          <p:cNvPr id="9" name="Text 7"/>
          <p:cNvSpPr/>
          <p:nvPr/>
        </p:nvSpPr>
        <p:spPr>
          <a:xfrm>
            <a:off x="7944842" y="2927449"/>
            <a:ext cx="139954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Graafikud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44842" y="3322419"/>
            <a:ext cx="139954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Funktsioonide kuju ja muutumine.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725377" y="2416274"/>
            <a:ext cx="1856733" cy="1876822"/>
          </a:xfrm>
          <a:prstGeom prst="roundRect">
            <a:avLst>
              <a:gd name="adj" fmla="val 616"/>
            </a:avLst>
          </a:prstGeom>
          <a:solidFill>
            <a:srgbClr val="0A3F46"/>
          </a:solidFill>
          <a:ln/>
        </p:spPr>
      </p:sp>
      <p:sp>
        <p:nvSpPr>
          <p:cNvPr id="12" name="Text 10"/>
          <p:cNvSpPr/>
          <p:nvPr/>
        </p:nvSpPr>
        <p:spPr>
          <a:xfrm>
            <a:off x="9953971" y="2927449"/>
            <a:ext cx="139954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Analüüs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953971" y="3322419"/>
            <a:ext cx="139954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Tuletised, nullkohad ja ekstreemumid.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16248" y="4522649"/>
            <a:ext cx="447544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Näited: x² · 1/x · sin(x) · eˣ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7895" y="6466086"/>
            <a:ext cx="34623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Funktsioonide uurimise veebirakenduse testimine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939686" y="6466086"/>
            <a:ext cx="25200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77921" y="2149574"/>
            <a:ext cx="533387" cy="533400"/>
          </a:xfrm>
          <a:prstGeom prst="ellipse">
            <a:avLst/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317" y="2301974"/>
            <a:ext cx="228594" cy="2286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0387050" y="2149574"/>
            <a:ext cx="533387" cy="533400"/>
          </a:xfrm>
          <a:prstGeom prst="ellipse">
            <a:avLst/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9446" y="2301974"/>
            <a:ext cx="228594" cy="228600"/>
          </a:xfrm>
          <a:prstGeom prst="rect">
            <a:avLst/>
          </a:prstGeom>
        </p:spPr>
      </p:pic>
      <p:pic>
        <p:nvPicPr>
          <p:cNvPr id="22" name="Pilt 21">
            <a:extLst>
              <a:ext uri="{FF2B5EF4-FFF2-40B4-BE49-F238E27FC236}">
                <a16:creationId xmlns:a16="http://schemas.microsoft.com/office/drawing/2014/main" id="{2646AE62-ABFC-4A98-9094-00CE78E673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4614" y="5604316"/>
            <a:ext cx="3448531" cy="1105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65149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02 — EESMÄRK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70524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Testimise eesmärk oli kontrollida rakenduse põhitööd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3442692"/>
            <a:ext cx="3555911" cy="1361281"/>
          </a:xfrm>
          <a:prstGeom prst="roundRect">
            <a:avLst>
              <a:gd name="adj" fmla="val 840"/>
            </a:avLst>
          </a:prstGeom>
          <a:solidFill>
            <a:srgbClr val="0A3F4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687167"/>
            <a:ext cx="30987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Funktsioonid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179" y="4082137"/>
            <a:ext cx="309872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Kas funktsioone saab lisada, vaadata, muuta ja kustutada?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7892" y="3442692"/>
            <a:ext cx="3555911" cy="1361281"/>
          </a:xfrm>
          <a:prstGeom prst="roundRect">
            <a:avLst>
              <a:gd name="adj" fmla="val 840"/>
            </a:avLst>
          </a:prstGeom>
          <a:solidFill>
            <a:srgbClr val="0A3F46"/>
          </a:solidFill>
          <a:ln/>
        </p:spPr>
      </p:sp>
      <p:sp>
        <p:nvSpPr>
          <p:cNvPr id="8" name="Text 6"/>
          <p:cNvSpPr/>
          <p:nvPr/>
        </p:nvSpPr>
        <p:spPr>
          <a:xfrm>
            <a:off x="4546486" y="3687167"/>
            <a:ext cx="30987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Sisendid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6486" y="4082137"/>
            <a:ext cx="309872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Kas vead annavad kasutajale arusaadava teate?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26199" y="3442692"/>
            <a:ext cx="3555911" cy="1361281"/>
          </a:xfrm>
          <a:prstGeom prst="roundRect">
            <a:avLst>
              <a:gd name="adj" fmla="val 840"/>
            </a:avLst>
          </a:prstGeom>
          <a:solidFill>
            <a:srgbClr val="0A3F46"/>
          </a:solidFill>
          <a:ln/>
        </p:spPr>
      </p:sp>
      <p:sp>
        <p:nvSpPr>
          <p:cNvPr id="11" name="Text 9"/>
          <p:cNvSpPr/>
          <p:nvPr/>
        </p:nvSpPr>
        <p:spPr>
          <a:xfrm>
            <a:off x="8254793" y="3687167"/>
            <a:ext cx="30987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Tulemused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4793" y="4082137"/>
            <a:ext cx="309872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Kas graafikud ja matemaatilised tulemused vastavad oodatule?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5008126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Ulatus: käsitsi testid · kasutajaliidese kontroll · koodiülevaatus · ühiktestid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7895" y="6466086"/>
            <a:ext cx="34623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Funktsioonide uurimise veebirakenduse testimine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935419" y="6466086"/>
            <a:ext cx="25627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3</a:t>
            </a:r>
            <a:endParaRPr lang="en-US" sz="1000" dirty="0"/>
          </a:p>
        </p:txBody>
      </p:sp>
      <p:pic>
        <p:nvPicPr>
          <p:cNvPr id="17" name="Pilt 16">
            <a:extLst>
              <a:ext uri="{FF2B5EF4-FFF2-40B4-BE49-F238E27FC236}">
                <a16:creationId xmlns:a16="http://schemas.microsoft.com/office/drawing/2014/main" id="{927CEA0A-DE94-4C87-A1A4-55748F3B3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164" y="5723852"/>
            <a:ext cx="3448531" cy="1105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08024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03 — TESTKESKKOND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113399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Testkeskkond ühendas veebirakenduse ja automaattestid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585567"/>
            <a:ext cx="444489" cy="444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205645"/>
            <a:ext cx="195069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Windows 11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9585" y="4557693"/>
            <a:ext cx="195069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Visual Studio Insiders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969" y="3585567"/>
            <a:ext cx="444489" cy="44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64969" y="4205645"/>
            <a:ext cx="195069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C# · .NET 10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2864969" y="4557693"/>
            <a:ext cx="195069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ASP.NET Core MVC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353" y="3585567"/>
            <a:ext cx="444489" cy="444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0353" y="4205645"/>
            <a:ext cx="195088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SQLite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5120353" y="4557693"/>
            <a:ext cx="195088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Entity Framework Core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936" y="3585567"/>
            <a:ext cx="444489" cy="444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75936" y="4205645"/>
            <a:ext cx="195069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Firefox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375936" y="4557693"/>
            <a:ext cx="195069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Veebirakenduse kontroll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1320" y="3585567"/>
            <a:ext cx="444489" cy="444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31320" y="4205645"/>
            <a:ext cx="195079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xUnit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9631320" y="4557693"/>
            <a:ext cx="195079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Matemaatiliste arvutuste ühiktestid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77895" y="6466086"/>
            <a:ext cx="34623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Funktsioonide uurimise veebirakenduse testimine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935618" y="6466086"/>
            <a:ext cx="25607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4</a:t>
            </a:r>
            <a:endParaRPr lang="en-US" sz="1000" dirty="0"/>
          </a:p>
        </p:txBody>
      </p:sp>
      <p:pic>
        <p:nvPicPr>
          <p:cNvPr id="22" name="Pilt 21">
            <a:extLst>
              <a:ext uri="{FF2B5EF4-FFF2-40B4-BE49-F238E27FC236}">
                <a16:creationId xmlns:a16="http://schemas.microsoft.com/office/drawing/2014/main" id="{69D24489-42BB-4BE0-A15E-0E59FCE398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242" y="5895841"/>
            <a:ext cx="5087060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76869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04 — TESTIMISE KÄIK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082244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Testimine liikus sisendist tulemuse kontrollini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554413"/>
            <a:ext cx="79601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803352"/>
            <a:ext cx="2072529" cy="190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944938"/>
            <a:ext cx="20725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Käivita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4339908"/>
            <a:ext cx="20725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Kontrolliti rakendust ja kasutajaliidest.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510" y="3554413"/>
            <a:ext cx="83133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510" y="3803352"/>
            <a:ext cx="2072529" cy="190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0" name="Text 8"/>
          <p:cNvSpPr/>
          <p:nvPr/>
        </p:nvSpPr>
        <p:spPr>
          <a:xfrm>
            <a:off x="2834510" y="3944938"/>
            <a:ext cx="207262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Kasuta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34510" y="4339908"/>
            <a:ext cx="207262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Testiti CRUD-toiminguid ja vigaseid sisendeid.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59534" y="3554413"/>
            <a:ext cx="83609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59534" y="3803352"/>
            <a:ext cx="2072529" cy="190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4" name="Text 12"/>
          <p:cNvSpPr/>
          <p:nvPr/>
        </p:nvSpPr>
        <p:spPr>
          <a:xfrm>
            <a:off x="5059534" y="3944938"/>
            <a:ext cx="20725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Võrdle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59534" y="4339908"/>
            <a:ext cx="20725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Katsetati eri funktsioone ja graafikuid.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84458" y="3554413"/>
            <a:ext cx="8355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84458" y="3803352"/>
            <a:ext cx="2072529" cy="190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8" name="Text 16"/>
          <p:cNvSpPr/>
          <p:nvPr/>
        </p:nvSpPr>
        <p:spPr>
          <a:xfrm>
            <a:off x="7284458" y="3944938"/>
            <a:ext cx="207262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Kontrolli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84458" y="4339908"/>
            <a:ext cx="207262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Võrreldi tulemusi käsitsi arvutatud matemaatikaga.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509482" y="3554413"/>
            <a:ext cx="838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09482" y="3803352"/>
            <a:ext cx="2072529" cy="190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482" y="3944938"/>
            <a:ext cx="20725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Kinnita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509482" y="4339908"/>
            <a:ext cx="20725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Vaadati üle kood ja käivitati xUnit-testid.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7895" y="6466086"/>
            <a:ext cx="34623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Funktsioonide uurimise veebirakenduse testimine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934130" y="6466086"/>
            <a:ext cx="2575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5</a:t>
            </a:r>
            <a:endParaRPr lang="en-US" sz="1000" dirty="0"/>
          </a:p>
        </p:txBody>
      </p:sp>
      <p:pic>
        <p:nvPicPr>
          <p:cNvPr id="27" name="Pilt 26">
            <a:extLst>
              <a:ext uri="{FF2B5EF4-FFF2-40B4-BE49-F238E27FC236}">
                <a16:creationId xmlns:a16="http://schemas.microsoft.com/office/drawing/2014/main" id="{273A82BC-C0F2-4160-B04E-E87E85027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635" y="5895841"/>
            <a:ext cx="5087060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 — IGAPÄEVASED KASUTUSJUHUD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5928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Igapäevased kasutusjuhud läbisid testi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698526"/>
            <a:ext cx="1447764" cy="20247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3882033"/>
            <a:ext cx="2628834" cy="2502793"/>
          </a:xfrm>
          <a:prstGeom prst="roundRect">
            <a:avLst>
              <a:gd name="adj" fmla="val 457"/>
            </a:avLst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8634" y="3901083"/>
            <a:ext cx="2590735" cy="5524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7" name="Shape 4"/>
          <p:cNvSpPr/>
          <p:nvPr/>
        </p:nvSpPr>
        <p:spPr>
          <a:xfrm>
            <a:off x="628634" y="4434483"/>
            <a:ext cx="2590735" cy="19050"/>
          </a:xfrm>
          <a:prstGeom prst="rect">
            <a:avLst/>
          </a:prstGeom>
          <a:solidFill>
            <a:srgbClr val="23585F"/>
          </a:solidFill>
          <a:ln/>
        </p:spPr>
      </p:sp>
      <p:sp>
        <p:nvSpPr>
          <p:cNvPr id="8" name="Text 5"/>
          <p:cNvSpPr/>
          <p:nvPr/>
        </p:nvSpPr>
        <p:spPr>
          <a:xfrm>
            <a:off x="1868143" y="4034433"/>
            <a:ext cx="72120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EAF6F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06430" y="4527510"/>
            <a:ext cx="24319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✓ OK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6430" y="4802088"/>
            <a:ext cx="223514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CRUD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6430" y="5197058"/>
            <a:ext cx="223514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Lisamine, vaatamine, muutmine ja kustutamine.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90815" y="3882033"/>
            <a:ext cx="2628834" cy="2502793"/>
          </a:xfrm>
          <a:prstGeom prst="roundRect">
            <a:avLst>
              <a:gd name="adj" fmla="val 457"/>
            </a:avLst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09865" y="3901083"/>
            <a:ext cx="2590735" cy="5524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09865" y="4434483"/>
            <a:ext cx="2590735" cy="19050"/>
          </a:xfrm>
          <a:prstGeom prst="rect">
            <a:avLst/>
          </a:prstGeom>
          <a:solidFill>
            <a:srgbClr val="23585F"/>
          </a:solidFill>
          <a:ln/>
        </p:spPr>
      </p:sp>
      <p:sp>
        <p:nvSpPr>
          <p:cNvPr id="15" name="Text 12"/>
          <p:cNvSpPr/>
          <p:nvPr/>
        </p:nvSpPr>
        <p:spPr>
          <a:xfrm>
            <a:off x="4622883" y="4034433"/>
            <a:ext cx="7742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EAF6F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2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3587660" y="4527510"/>
            <a:ext cx="24319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✓ OK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587660" y="4802088"/>
            <a:ext cx="223514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Sisendid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87660" y="5197058"/>
            <a:ext cx="2235144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Tühi valem: „Valem on kohustuslik“. Vigane valem x^2 + + ja lubamatud märgid tuvastati.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72046" y="3882033"/>
            <a:ext cx="2628834" cy="2502793"/>
          </a:xfrm>
          <a:prstGeom prst="roundRect">
            <a:avLst>
              <a:gd name="adj" fmla="val 457"/>
            </a:avLst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91095" y="3901083"/>
            <a:ext cx="2590735" cy="5524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21" name="Shape 18"/>
          <p:cNvSpPr/>
          <p:nvPr/>
        </p:nvSpPr>
        <p:spPr>
          <a:xfrm>
            <a:off x="6191095" y="4434483"/>
            <a:ext cx="2590735" cy="19050"/>
          </a:xfrm>
          <a:prstGeom prst="rect">
            <a:avLst/>
          </a:prstGeom>
          <a:solidFill>
            <a:srgbClr val="23585F"/>
          </a:solidFill>
          <a:ln/>
        </p:spPr>
      </p:sp>
      <p:sp>
        <p:nvSpPr>
          <p:cNvPr id="22" name="Text 19"/>
          <p:cNvSpPr/>
          <p:nvPr/>
        </p:nvSpPr>
        <p:spPr>
          <a:xfrm>
            <a:off x="7399847" y="4034433"/>
            <a:ext cx="7827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EAF6F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3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6368891" y="4527510"/>
            <a:ext cx="24319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✓ OK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68891" y="4802088"/>
            <a:ext cx="223514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Graafikud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368891" y="5197058"/>
            <a:ext cx="223514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x², 1/x ja sin(x) kuvati korrektselt.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953276" y="3882033"/>
            <a:ext cx="2628834" cy="2502793"/>
          </a:xfrm>
          <a:prstGeom prst="roundRect">
            <a:avLst>
              <a:gd name="adj" fmla="val 457"/>
            </a:avLst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72326" y="3901083"/>
            <a:ext cx="2590735" cy="5524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28" name="Shape 25"/>
          <p:cNvSpPr/>
          <p:nvPr/>
        </p:nvSpPr>
        <p:spPr>
          <a:xfrm>
            <a:off x="8972326" y="4434483"/>
            <a:ext cx="2590735" cy="19050"/>
          </a:xfrm>
          <a:prstGeom prst="rect">
            <a:avLst/>
          </a:prstGeom>
          <a:solidFill>
            <a:srgbClr val="23585F"/>
          </a:solidFill>
          <a:ln/>
        </p:spPr>
      </p:sp>
      <p:sp>
        <p:nvSpPr>
          <p:cNvPr id="29" name="Text 26"/>
          <p:cNvSpPr/>
          <p:nvPr/>
        </p:nvSpPr>
        <p:spPr>
          <a:xfrm>
            <a:off x="10181871" y="4034433"/>
            <a:ext cx="78122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EAF6F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4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9150121" y="4527510"/>
            <a:ext cx="24319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✓ OK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150121" y="4802088"/>
            <a:ext cx="223514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Kasutus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9150121" y="5197058"/>
            <a:ext cx="223514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Rakendus töötas Firefoxis ja eri akna laiustega.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77895" y="6466086"/>
            <a:ext cx="34623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Funktsioonide uurimise veebirakenduse testimine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936412" y="6466086"/>
            <a:ext cx="255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6</a:t>
            </a:r>
            <a:endParaRPr lang="en-US" sz="1000" dirty="0"/>
          </a:p>
        </p:txBody>
      </p:sp>
      <p:pic>
        <p:nvPicPr>
          <p:cNvPr id="36" name="Pilt 35">
            <a:extLst>
              <a:ext uri="{FF2B5EF4-FFF2-40B4-BE49-F238E27FC236}">
                <a16:creationId xmlns:a16="http://schemas.microsoft.com/office/drawing/2014/main" id="{E82C25E1-8BBD-4602-B020-C3EF969DE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332" y="6427545"/>
            <a:ext cx="2317668" cy="438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603137"/>
            <a:ext cx="436869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VIGA V-01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1888192"/>
            <a:ext cx="40131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V-01. Funktsiooni cos(x) analüüsitulemused on osaliselt valed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3380581"/>
            <a:ext cx="4013100" cy="1875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Tuletis cos(x) kuvati õigesti: −sin(x).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Mõned kasvamis- ja kahanemisvahemikud olid valed.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Ekstreemumite ja kumerusintervallide tulemused ei olnud täielikud.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Rakendus ei analüüsi funktsiooni alati õigesti.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232269" y="3336588"/>
            <a:ext cx="695942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Graafik: y = cos(x), x vahemikus −3 kuni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7895" y="6466086"/>
            <a:ext cx="34623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Funktsioonide uurimise veebirakenduse testimine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7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966" y="1609725"/>
            <a:ext cx="5900193" cy="3638550"/>
          </a:xfrm>
          <a:prstGeom prst="rect">
            <a:avLst/>
          </a:prstGeom>
        </p:spPr>
      </p:pic>
      <p:pic>
        <p:nvPicPr>
          <p:cNvPr id="10" name="Pilt 9">
            <a:extLst>
              <a:ext uri="{FF2B5EF4-FFF2-40B4-BE49-F238E27FC236}">
                <a16:creationId xmlns:a16="http://schemas.microsoft.com/office/drawing/2014/main" id="{AE3B8E91-CB5F-4712-B2E3-EC1585B70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940" y="5895841"/>
            <a:ext cx="5087060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379597"/>
            <a:ext cx="436869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VIGA V-02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1664653"/>
            <a:ext cx="4013100" cy="17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V-02. Funktsiooni f(x) = 1/(x² − 4) analüüsitulemused on osaliselt valed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3604022"/>
            <a:ext cx="4013100" cy="1875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 ei ole määratud punktides x = −2 ja x = 2.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Tuletis on f′(x) = −2x/(x² − 4)².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Rakendus näitas mõningaid kasvamis- ja kahanemisvahemikke valesti.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Seetõttu ei olnud analüüsi tulemused täielikult õiged.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269" y="1624608"/>
            <a:ext cx="6451439" cy="395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7895" y="6466086"/>
            <a:ext cx="34623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Funktsioonide uurimise veebirakenduse testimine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933336" y="6466086"/>
            <a:ext cx="258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8</a:t>
            </a:r>
            <a:endParaRPr lang="en-US" sz="1000" dirty="0"/>
          </a:p>
        </p:txBody>
      </p:sp>
      <p:pic>
        <p:nvPicPr>
          <p:cNvPr id="9" name="Pilt 8">
            <a:extLst>
              <a:ext uri="{FF2B5EF4-FFF2-40B4-BE49-F238E27FC236}">
                <a16:creationId xmlns:a16="http://schemas.microsoft.com/office/drawing/2014/main" id="{252F59CD-69C0-487C-A8E7-5D468A04D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940" y="5895841"/>
            <a:ext cx="5087060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02703"/>
            <a:ext cx="337246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07 — XUNIT JA UNITEST.CS FAIL</a:t>
            </a:r>
            <a:endParaRPr lang="en-US" sz="1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647130"/>
            <a:ext cx="2762875" cy="390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96323" y="650835"/>
            <a:ext cx="72953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XUNIT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896323" y="935891"/>
            <a:ext cx="668578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2 testi · 2 õnnestumist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896323" y="1538764"/>
            <a:ext cx="72953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 ebaõnnestumist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96323" y="1942862"/>
            <a:ext cx="72953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TESTITUD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96323" y="2328565"/>
            <a:ext cx="6685787" cy="1208980"/>
          </a:xfrm>
          <a:prstGeom prst="roundRect">
            <a:avLst>
              <a:gd name="adj" fmla="val 945"/>
            </a:avLst>
          </a:prstGeom>
          <a:solidFill>
            <a:srgbClr val="174C53"/>
          </a:solidFill>
          <a:ln/>
        </p:spPr>
      </p:sp>
      <p:sp>
        <p:nvSpPr>
          <p:cNvPr id="9" name="Text 6"/>
          <p:cNvSpPr/>
          <p:nvPr/>
        </p:nvSpPr>
        <p:spPr>
          <a:xfrm>
            <a:off x="5109638" y="2506682"/>
            <a:ext cx="62591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Testid kontrollivad, kas rakendus arvutab õigesti funktsiooni x² väärtuse ja selle tuletise punktis x = 3. Esimene test kontrollib, et funktsiooni väärtus on 9, ja teine, et tuletise väärtus on 6. Mõlemad testid läbisid edukalt.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96323" y="3742015"/>
            <a:ext cx="72953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 x² väärtus kohal x = 3 oli 9 ja tuletis 6.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323" y="4145161"/>
            <a:ext cx="5600560" cy="13098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7895" y="6466086"/>
            <a:ext cx="34623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Funktsioonide uurimise veebirakenduse testimine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936114" y="6466086"/>
            <a:ext cx="25558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9</a:t>
            </a:r>
            <a:endParaRPr lang="en-US" sz="1000" dirty="0"/>
          </a:p>
        </p:txBody>
      </p:sp>
      <p:pic>
        <p:nvPicPr>
          <p:cNvPr id="15" name="Pilt 14">
            <a:extLst>
              <a:ext uri="{FF2B5EF4-FFF2-40B4-BE49-F238E27FC236}">
                <a16:creationId xmlns:a16="http://schemas.microsoft.com/office/drawing/2014/main" id="{5306A512-D04F-46C4-9A42-78826D1E7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940" y="5896497"/>
            <a:ext cx="5087060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85636"/>
            <a:ext cx="558786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HINNANG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770692"/>
            <a:ext cx="528306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Hinnang ja soovitused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1415157"/>
            <a:ext cx="528306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85/100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07987" y="2167315"/>
            <a:ext cx="55878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+10 boonuspunkti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6" y="2416156"/>
            <a:ext cx="5497433" cy="3957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640" y="1930797"/>
            <a:ext cx="52830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Neli soovitust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640" y="2327260"/>
            <a:ext cx="5283068" cy="2621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Paranda matemaatiline analüüs. Kontrolli cos(x) kasvamis- ja kahanemisvahemikke, ekstreeme ja kumerusintervalle.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Paranda vigade käsitlemine. Väldi tühje catch-plokke. Näita kasutajale arusaadavaid veateateid ja salvesta tehniline info logisse.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Testi kasutajaliidest rohkem. Kontrolli erineva laiusega ekraane, klaviatuuri ja teisi brausereid. Testimisel kasutati Firefoxi.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Muuda kasutajaliides lihtsamaks. Vähenda liigset teksti ja tee olulised funktsioonid paremini leitavaks.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7895" y="6466086"/>
            <a:ext cx="34623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Funktsioonide uurimise veebirakenduse testimine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887101" y="6466086"/>
            <a:ext cx="3045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10</a:t>
            </a:r>
            <a:endParaRPr lang="en-US" sz="1000" dirty="0"/>
          </a:p>
        </p:txBody>
      </p:sp>
      <p:pic>
        <p:nvPicPr>
          <p:cNvPr id="12" name="Pilt 11">
            <a:extLst>
              <a:ext uri="{FF2B5EF4-FFF2-40B4-BE49-F238E27FC236}">
                <a16:creationId xmlns:a16="http://schemas.microsoft.com/office/drawing/2014/main" id="{CEB5D9E5-FB51-457A-8E3F-10DD846F8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878" y="5892236"/>
            <a:ext cx="5087060" cy="9621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'i kujund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609</Words>
  <Application>Microsoft Office PowerPoint</Application>
  <PresentationFormat>Laiekraan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Kasutatud fondid</vt:lpstr>
      </vt:variant>
      <vt:variant>
        <vt:i4>7</vt:i4>
      </vt:variant>
      <vt:variant>
        <vt:lpstr>Kujundus</vt:lpstr>
      </vt:variant>
      <vt:variant>
        <vt:i4>1</vt:i4>
      </vt:variant>
      <vt:variant>
        <vt:lpstr>Slaidipealkirjad</vt:lpstr>
      </vt:variant>
      <vt:variant>
        <vt:i4>10</vt:i4>
      </vt:variant>
    </vt:vector>
  </HeadingPairs>
  <TitlesOfParts>
    <vt:vector size="18" baseType="lpstr">
      <vt:lpstr>Calibri</vt:lpstr>
      <vt:lpstr>Public Sans</vt:lpstr>
      <vt:lpstr>Public Sans SemiBold</vt:lpstr>
      <vt:lpstr>Saira Semi Condensed</vt:lpstr>
      <vt:lpstr>Consolas</vt:lpstr>
      <vt:lpstr>Public Sans Bold</vt:lpstr>
      <vt:lpstr>Arial</vt:lpstr>
      <vt:lpstr>Office Theme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PowerPointi esitlus</dc:title>
  <dc:subject/>
  <dc:creator>Opilane Techno+TLN</dc:creator>
  <cp:lastModifiedBy>Opilane TTHK</cp:lastModifiedBy>
  <cp:revision>2</cp:revision>
  <dcterms:created xsi:type="dcterms:W3CDTF">2026-10-28T09:19:20Z</dcterms:created>
  <dcterms:modified xsi:type="dcterms:W3CDTF">2026-10-28T09:23:42Z</dcterms:modified>
</cp:coreProperties>
</file>